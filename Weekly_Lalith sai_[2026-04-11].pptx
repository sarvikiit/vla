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Roboto Mono Bold" charset="1" panose="00000000000000000000"/>
      <p:regular r:id="rId14"/>
    </p:embeddedFont>
    <p:embeddedFont>
      <p:font typeface="Source Sans 3 Bold" charset="1" panose="020B0303030403020204"/>
      <p:regular r:id="rId15"/>
    </p:embeddedFont>
    <p:embeddedFont>
      <p:font typeface="Canva Sans" charset="1" panose="020B0503030501040103"/>
      <p:regular r:id="rId16"/>
    </p:embeddedFont>
    <p:embeddedFont>
      <p:font typeface="Canva Sans Bold" charset="1" panose="020B0803030501040103"/>
      <p:regular r:id="rId17"/>
    </p:embeddedFont>
    <p:embeddedFont>
      <p:font typeface="Roboto Mono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2663028"/>
            <a:ext cx="15773400" cy="1749303"/>
            <a:chOff x="0" y="0"/>
            <a:chExt cx="21031200" cy="23324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332403"/>
            </a:xfrm>
            <a:custGeom>
              <a:avLst/>
              <a:gdLst/>
              <a:ahLst/>
              <a:cxnLst/>
              <a:rect r="r" b="b" t="t" l="l"/>
              <a:pathLst>
                <a:path h="2332403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332403"/>
                  </a:lnTo>
                  <a:lnTo>
                    <a:pt x="0" y="23324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2022" r="0" b="-11936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104775"/>
              <a:ext cx="21031200" cy="2227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b="true" sz="9000" spc="161">
                  <a:solidFill>
                    <a:srgbClr val="000000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Weekly Progress Report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12275" y="0"/>
            <a:ext cx="2875725" cy="1198677"/>
          </a:xfrm>
          <a:custGeom>
            <a:avLst/>
            <a:gdLst/>
            <a:ahLst/>
            <a:cxnLst/>
            <a:rect r="r" b="b" t="t" l="l"/>
            <a:pathLst>
              <a:path h="1198677" w="2875725">
                <a:moveTo>
                  <a:pt x="0" y="0"/>
                </a:moveTo>
                <a:lnTo>
                  <a:pt x="2875725" y="0"/>
                </a:lnTo>
                <a:lnTo>
                  <a:pt x="2875725" y="1198677"/>
                </a:lnTo>
                <a:lnTo>
                  <a:pt x="0" y="11986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67" t="-8141" r="-7918" b="-995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420053" y="9532620"/>
            <a:ext cx="8564343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4D96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Visual Ai Lab, Control &amp; Instrumentation Engineering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40180" y="6309360"/>
            <a:ext cx="15590520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sz="3600" b="true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Lalith sai</a:t>
            </a:r>
          </a:p>
          <a:p>
            <a:pPr algn="r">
              <a:lnSpc>
                <a:spcPts val="4320"/>
              </a:lnSpc>
            </a:pPr>
            <a:r>
              <a:rPr lang="en-US" sz="3600" b="true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2026-04-11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17037"/>
            <a:ext cx="15773400" cy="1299868"/>
            <a:chOff x="0" y="0"/>
            <a:chExt cx="21031200" cy="17331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1733159"/>
            </a:xfrm>
            <a:custGeom>
              <a:avLst/>
              <a:gdLst/>
              <a:ahLst/>
              <a:cxnLst/>
              <a:rect r="r" b="b" t="t" l="l"/>
              <a:pathLst>
                <a:path h="1733159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733159"/>
                  </a:lnTo>
                  <a:lnTo>
                    <a:pt x="0" y="17331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7894" r="0" b="-174991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21031200" cy="1685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96"/>
                </a:lnSpc>
              </a:pPr>
              <a:r>
                <a:rPr lang="en-US" b="true" sz="3700" spc="66">
                  <a:solidFill>
                    <a:srgbClr val="000000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Jacobian-Structured Neural Action Synthesis for Reliable Vision-Language Robotic Manipulation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8614168"/>
            <a:ext cx="11809080" cy="1288263"/>
          </a:xfrm>
          <a:custGeom>
            <a:avLst/>
            <a:gdLst/>
            <a:ahLst/>
            <a:cxnLst/>
            <a:rect r="r" b="b" t="t" l="l"/>
            <a:pathLst>
              <a:path h="1288263" w="11809080">
                <a:moveTo>
                  <a:pt x="0" y="0"/>
                </a:moveTo>
                <a:lnTo>
                  <a:pt x="11809080" y="0"/>
                </a:lnTo>
                <a:lnTo>
                  <a:pt x="11809080" y="1288264"/>
                </a:lnTo>
                <a:lnTo>
                  <a:pt x="0" y="12882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1658452"/>
            <a:ext cx="15773400" cy="6792170"/>
          </a:xfrm>
          <a:custGeom>
            <a:avLst/>
            <a:gdLst/>
            <a:ahLst/>
            <a:cxnLst/>
            <a:rect r="r" b="b" t="t" l="l"/>
            <a:pathLst>
              <a:path h="6792170" w="15773400">
                <a:moveTo>
                  <a:pt x="0" y="0"/>
                </a:moveTo>
                <a:lnTo>
                  <a:pt x="15773400" y="0"/>
                </a:lnTo>
                <a:lnTo>
                  <a:pt x="15773400" y="6792170"/>
                </a:lnTo>
                <a:lnTo>
                  <a:pt x="0" y="67921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89" t="-21433" r="-1559" b="-9544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75873" y="7449490"/>
            <a:ext cx="5431593" cy="1808810"/>
            <a:chOff x="0" y="0"/>
            <a:chExt cx="6308987" cy="21009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08987" cy="2100999"/>
            </a:xfrm>
            <a:custGeom>
              <a:avLst/>
              <a:gdLst/>
              <a:ahLst/>
              <a:cxnLst/>
              <a:rect r="r" b="b" t="t" l="l"/>
              <a:pathLst>
                <a:path h="2100999" w="6308987">
                  <a:moveTo>
                    <a:pt x="0" y="0"/>
                  </a:moveTo>
                  <a:lnTo>
                    <a:pt x="6308987" y="0"/>
                  </a:lnTo>
                  <a:lnTo>
                    <a:pt x="6308987" y="2100999"/>
                  </a:lnTo>
                  <a:lnTo>
                    <a:pt x="0" y="210099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3247" r="-233353" b="-126846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6308987" cy="2062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56"/>
                </a:lnSpc>
              </a:pPr>
              <a:r>
                <a:rPr lang="en-US" b="true" sz="3200" spc="54">
                  <a:solidFill>
                    <a:srgbClr val="000000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10 episode per task </a:t>
              </a:r>
            </a:p>
            <a:p>
              <a:pPr algn="ctr">
                <a:lnSpc>
                  <a:spcPts val="3456"/>
                </a:lnSpc>
              </a:pPr>
              <a:r>
                <a:rPr lang="en-US" b="true" sz="3200" spc="54">
                  <a:solidFill>
                    <a:srgbClr val="000000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 total 100 episodes </a:t>
              </a:r>
            </a:p>
            <a:p>
              <a:pPr algn="ctr">
                <a:lnSpc>
                  <a:spcPts val="3456"/>
                </a:lnSpc>
              </a:pPr>
              <a:r>
                <a:rPr lang="en-US" b="true" sz="3200" spc="57">
                  <a:solidFill>
                    <a:srgbClr val="000000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59% successrate 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475873" y="1901627"/>
            <a:ext cx="5431593" cy="5070901"/>
          </a:xfrm>
          <a:custGeom>
            <a:avLst/>
            <a:gdLst/>
            <a:ahLst/>
            <a:cxnLst/>
            <a:rect r="r" b="b" t="t" l="l"/>
            <a:pathLst>
              <a:path h="5070901" w="5431593">
                <a:moveTo>
                  <a:pt x="0" y="0"/>
                </a:moveTo>
                <a:lnTo>
                  <a:pt x="5431592" y="0"/>
                </a:lnTo>
                <a:lnTo>
                  <a:pt x="5431592" y="5070901"/>
                </a:lnTo>
                <a:lnTo>
                  <a:pt x="0" y="50709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0" y="50006"/>
            <a:ext cx="18288000" cy="1066520"/>
            <a:chOff x="0" y="0"/>
            <a:chExt cx="24384000" cy="14220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1422028"/>
            </a:xfrm>
            <a:custGeom>
              <a:avLst/>
              <a:gdLst/>
              <a:ahLst/>
              <a:cxnLst/>
              <a:rect r="r" b="b" t="t" l="l"/>
              <a:pathLst>
                <a:path h="142202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22028"/>
                  </a:lnTo>
                  <a:lnTo>
                    <a:pt x="0" y="14220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1192" r="13750" b="-235158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47625"/>
              <a:ext cx="24384000" cy="13744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508"/>
                </a:lnSpc>
              </a:pPr>
              <a:r>
                <a:rPr lang="en-US" b="true" sz="5100" spc="91">
                  <a:solidFill>
                    <a:srgbClr val="000000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EVALUVATION ON MT-10 &amp; MT-50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9907316" y="1871447"/>
            <a:ext cx="5268650" cy="5079734"/>
          </a:xfrm>
          <a:custGeom>
            <a:avLst/>
            <a:gdLst/>
            <a:ahLst/>
            <a:cxnLst/>
            <a:rect r="r" b="b" t="t" l="l"/>
            <a:pathLst>
              <a:path h="5079734" w="5268650">
                <a:moveTo>
                  <a:pt x="0" y="0"/>
                </a:moveTo>
                <a:lnTo>
                  <a:pt x="5268650" y="0"/>
                </a:lnTo>
                <a:lnTo>
                  <a:pt x="5268650" y="5079734"/>
                </a:lnTo>
                <a:lnTo>
                  <a:pt x="0" y="5079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9907316" y="7428143"/>
            <a:ext cx="5268650" cy="1830157"/>
            <a:chOff x="0" y="0"/>
            <a:chExt cx="6919262" cy="24035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19261" cy="2403527"/>
            </a:xfrm>
            <a:custGeom>
              <a:avLst/>
              <a:gdLst/>
              <a:ahLst/>
              <a:cxnLst/>
              <a:rect r="r" b="b" t="t" l="l"/>
              <a:pathLst>
                <a:path h="2403527" w="6919261">
                  <a:moveTo>
                    <a:pt x="0" y="0"/>
                  </a:moveTo>
                  <a:lnTo>
                    <a:pt x="6919261" y="0"/>
                  </a:lnTo>
                  <a:lnTo>
                    <a:pt x="6919261" y="2403527"/>
                  </a:lnTo>
                  <a:lnTo>
                    <a:pt x="0" y="24035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2699" r="-203951" b="-98293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38100"/>
              <a:ext cx="6919262" cy="2365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56"/>
                </a:lnSpc>
              </a:pPr>
              <a:r>
                <a:rPr lang="en-US" b="true" sz="3200" spc="54">
                  <a:solidFill>
                    <a:srgbClr val="000000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2 episode per task </a:t>
              </a:r>
            </a:p>
            <a:p>
              <a:pPr algn="ctr">
                <a:lnSpc>
                  <a:spcPts val="3456"/>
                </a:lnSpc>
              </a:pPr>
              <a:r>
                <a:rPr lang="en-US" b="true" sz="3200" spc="54">
                  <a:solidFill>
                    <a:srgbClr val="000000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total 20 episodes </a:t>
              </a:r>
            </a:p>
            <a:p>
              <a:pPr algn="ctr">
                <a:lnSpc>
                  <a:spcPts val="3456"/>
                </a:lnSpc>
              </a:pPr>
              <a:r>
                <a:rPr lang="en-US" b="true" sz="3200" spc="57">
                  <a:solidFill>
                    <a:srgbClr val="000000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70% successrate 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17037"/>
            <a:ext cx="15773400" cy="795043"/>
            <a:chOff x="0" y="0"/>
            <a:chExt cx="21031200" cy="10600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1060059"/>
            </a:xfrm>
            <a:custGeom>
              <a:avLst/>
              <a:gdLst/>
              <a:ahLst/>
              <a:cxnLst/>
              <a:rect r="r" b="b" t="t" l="l"/>
              <a:pathLst>
                <a:path h="1060059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060059"/>
                  </a:lnTo>
                  <a:lnTo>
                    <a:pt x="0" y="10600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3550" r="0" b="-349601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21031200" cy="10124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96"/>
                </a:lnSpc>
              </a:pPr>
              <a:r>
                <a:rPr lang="en-US" b="true" sz="3700" spc="66">
                  <a:solidFill>
                    <a:srgbClr val="000000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problem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296243"/>
            <a:ext cx="11301259" cy="1715408"/>
          </a:xfrm>
          <a:custGeom>
            <a:avLst/>
            <a:gdLst/>
            <a:ahLst/>
            <a:cxnLst/>
            <a:rect r="r" b="b" t="t" l="l"/>
            <a:pathLst>
              <a:path h="1715408" w="11301259">
                <a:moveTo>
                  <a:pt x="0" y="0"/>
                </a:moveTo>
                <a:lnTo>
                  <a:pt x="11301259" y="0"/>
                </a:lnTo>
                <a:lnTo>
                  <a:pt x="11301259" y="1715408"/>
                </a:lnTo>
                <a:lnTo>
                  <a:pt x="0" y="17154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5525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410505" y="4089795"/>
            <a:ext cx="7566839" cy="4284723"/>
          </a:xfrm>
          <a:custGeom>
            <a:avLst/>
            <a:gdLst/>
            <a:ahLst/>
            <a:cxnLst/>
            <a:rect r="r" b="b" t="t" l="l"/>
            <a:pathLst>
              <a:path h="4284723" w="7566839">
                <a:moveTo>
                  <a:pt x="0" y="0"/>
                </a:moveTo>
                <a:lnTo>
                  <a:pt x="7566839" y="0"/>
                </a:lnTo>
                <a:lnTo>
                  <a:pt x="7566839" y="4284723"/>
                </a:lnTo>
                <a:lnTo>
                  <a:pt x="0" y="42847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491205" y="3623816"/>
            <a:ext cx="9728077" cy="5216681"/>
          </a:xfrm>
          <a:custGeom>
            <a:avLst/>
            <a:gdLst/>
            <a:ahLst/>
            <a:cxnLst/>
            <a:rect r="r" b="b" t="t" l="l"/>
            <a:pathLst>
              <a:path h="5216681" w="9728077">
                <a:moveTo>
                  <a:pt x="0" y="0"/>
                </a:moveTo>
                <a:lnTo>
                  <a:pt x="9728077" y="0"/>
                </a:lnTo>
                <a:lnTo>
                  <a:pt x="9728077" y="5216681"/>
                </a:lnTo>
                <a:lnTo>
                  <a:pt x="0" y="52166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60322" y="3846493"/>
            <a:ext cx="6617084" cy="2242823"/>
            <a:chOff x="0" y="0"/>
            <a:chExt cx="7087492" cy="24022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087492" cy="2402267"/>
            </a:xfrm>
            <a:custGeom>
              <a:avLst/>
              <a:gdLst/>
              <a:ahLst/>
              <a:cxnLst/>
              <a:rect r="r" b="b" t="t" l="l"/>
              <a:pathLst>
                <a:path h="2402267" w="7087492">
                  <a:moveTo>
                    <a:pt x="0" y="0"/>
                  </a:moveTo>
                  <a:lnTo>
                    <a:pt x="7087492" y="0"/>
                  </a:lnTo>
                  <a:lnTo>
                    <a:pt x="7087492" y="2402267"/>
                  </a:lnTo>
                  <a:lnTo>
                    <a:pt x="0" y="24022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2774" r="-196736" b="-98397"/>
              </a:stretch>
            </a:blipFill>
            <a:ln w="9525" cap="sq">
              <a:solidFill>
                <a:srgbClr val="000000"/>
              </a:solidFill>
              <a:prstDash val="sysDot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7087492" cy="2430840"/>
            </a:xfrm>
            <a:prstGeom prst="rect">
              <a:avLst/>
            </a:prstGeom>
          </p:spPr>
          <p:txBody>
            <a:bodyPr anchor="ctr" rtlCol="false" tIns="304800" lIns="304800" bIns="304800" rIns="304800"/>
            <a:lstStyle/>
            <a:p>
              <a:pPr algn="just">
                <a:lnSpc>
                  <a:spcPts val="3350"/>
                </a:lnSpc>
              </a:pPr>
              <a:r>
                <a:rPr lang="en-US" b="true" sz="2500" spc="-55">
                  <a:solidFill>
                    <a:srgbClr val="000000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Generate robotic manipulation actions from multi-view images and language instructions in a single forward pass (~30ms) trained with only 10 expert demonstrations per task.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16482" y="473754"/>
            <a:ext cx="10257867" cy="9339492"/>
          </a:xfrm>
          <a:custGeom>
            <a:avLst/>
            <a:gdLst/>
            <a:ahLst/>
            <a:cxnLst/>
            <a:rect r="r" b="b" t="t" l="l"/>
            <a:pathLst>
              <a:path h="9339492" w="10257867">
                <a:moveTo>
                  <a:pt x="0" y="0"/>
                </a:moveTo>
                <a:lnTo>
                  <a:pt x="10257867" y="0"/>
                </a:lnTo>
                <a:lnTo>
                  <a:pt x="10257867" y="9339492"/>
                </a:lnTo>
                <a:lnTo>
                  <a:pt x="0" y="93394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833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0006"/>
            <a:ext cx="18288000" cy="1066520"/>
            <a:chOff x="0" y="0"/>
            <a:chExt cx="24384000" cy="14220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422028"/>
            </a:xfrm>
            <a:custGeom>
              <a:avLst/>
              <a:gdLst/>
              <a:ahLst/>
              <a:cxnLst/>
              <a:rect r="r" b="b" t="t" l="l"/>
              <a:pathLst>
                <a:path h="142202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22028"/>
                  </a:lnTo>
                  <a:lnTo>
                    <a:pt x="0" y="14220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1192" r="13750" b="-235158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24384000" cy="13744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508"/>
                </a:lnSpc>
              </a:pPr>
              <a:r>
                <a:rPr lang="en-US" b="true" sz="5100" spc="91">
                  <a:solidFill>
                    <a:srgbClr val="000000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MODEL PARAMETERS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80509" y="8528155"/>
            <a:ext cx="16669781" cy="1002165"/>
            <a:chOff x="0" y="0"/>
            <a:chExt cx="22226375" cy="13362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226375" cy="1336222"/>
            </a:xfrm>
            <a:custGeom>
              <a:avLst/>
              <a:gdLst/>
              <a:ahLst/>
              <a:cxnLst/>
              <a:rect r="r" b="b" t="t" l="l"/>
              <a:pathLst>
                <a:path h="1336222" w="22226375">
                  <a:moveTo>
                    <a:pt x="0" y="0"/>
                  </a:moveTo>
                  <a:lnTo>
                    <a:pt x="22226375" y="0"/>
                  </a:lnTo>
                  <a:lnTo>
                    <a:pt x="22226375" y="1336222"/>
                  </a:lnTo>
                  <a:lnTo>
                    <a:pt x="0" y="133622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6681" r="5377" b="-256680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22226375" cy="1298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56"/>
                </a:lnSpc>
              </a:pPr>
              <a:r>
                <a:rPr lang="en-US" b="true" sz="3200" spc="57">
                  <a:solidFill>
                    <a:srgbClr val="000000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[MetaWorldDataset] 5000 demos, 407000 windows, tasks=50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026939" y="4257585"/>
            <a:ext cx="5002597" cy="1371021"/>
            <a:chOff x="0" y="0"/>
            <a:chExt cx="6670129" cy="18280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70129" cy="1828030"/>
            </a:xfrm>
            <a:custGeom>
              <a:avLst/>
              <a:gdLst/>
              <a:ahLst/>
              <a:cxnLst/>
              <a:rect r="r" b="b" t="t" l="l"/>
              <a:pathLst>
                <a:path h="1828030" w="6670129">
                  <a:moveTo>
                    <a:pt x="0" y="0"/>
                  </a:moveTo>
                  <a:lnTo>
                    <a:pt x="6670129" y="0"/>
                  </a:lnTo>
                  <a:lnTo>
                    <a:pt x="6670129" y="1828030"/>
                  </a:lnTo>
                  <a:lnTo>
                    <a:pt x="0" y="18280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7624" r="-215304" b="-160720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6670129" cy="19137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68"/>
                </a:lnSpc>
              </a:pPr>
              <a:r>
                <a:rPr lang="en-US" b="true" sz="3200" spc="54">
                  <a:solidFill>
                    <a:srgbClr val="000000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19.3M - Trainable</a:t>
              </a:r>
            </a:p>
            <a:p>
              <a:pPr algn="ctr">
                <a:lnSpc>
                  <a:spcPts val="4768"/>
                </a:lnSpc>
              </a:pPr>
              <a:r>
                <a:rPr lang="en-US" b="true" sz="3200" spc="57">
                  <a:solidFill>
                    <a:srgbClr val="000000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264.6M - TOTAL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45765" y="2306065"/>
            <a:ext cx="11939860" cy="4649149"/>
          </a:xfrm>
          <a:custGeom>
            <a:avLst/>
            <a:gdLst/>
            <a:ahLst/>
            <a:cxnLst/>
            <a:rect r="r" b="b" t="t" l="l"/>
            <a:pathLst>
              <a:path h="4649149" w="11939860">
                <a:moveTo>
                  <a:pt x="0" y="0"/>
                </a:moveTo>
                <a:lnTo>
                  <a:pt x="11939860" y="0"/>
                </a:lnTo>
                <a:lnTo>
                  <a:pt x="11939860" y="4649149"/>
                </a:lnTo>
                <a:lnTo>
                  <a:pt x="0" y="46491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5103" y="3254506"/>
            <a:ext cx="11301259" cy="6003794"/>
          </a:xfrm>
          <a:custGeom>
            <a:avLst/>
            <a:gdLst/>
            <a:ahLst/>
            <a:cxnLst/>
            <a:rect r="r" b="b" t="t" l="l"/>
            <a:pathLst>
              <a:path h="6003794" w="11301259">
                <a:moveTo>
                  <a:pt x="0" y="0"/>
                </a:moveTo>
                <a:lnTo>
                  <a:pt x="11301259" y="0"/>
                </a:lnTo>
                <a:lnTo>
                  <a:pt x="11301259" y="6003794"/>
                </a:lnTo>
                <a:lnTo>
                  <a:pt x="0" y="60037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785103" y="585941"/>
            <a:ext cx="11301259" cy="2359138"/>
          </a:xfrm>
          <a:custGeom>
            <a:avLst/>
            <a:gdLst/>
            <a:ahLst/>
            <a:cxnLst/>
            <a:rect r="r" b="b" t="t" l="l"/>
            <a:pathLst>
              <a:path h="2359138" w="11301259">
                <a:moveTo>
                  <a:pt x="0" y="0"/>
                </a:moveTo>
                <a:lnTo>
                  <a:pt x="11301259" y="0"/>
                </a:lnTo>
                <a:lnTo>
                  <a:pt x="11301259" y="2359138"/>
                </a:lnTo>
                <a:lnTo>
                  <a:pt x="0" y="23591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2929741" y="1353256"/>
            <a:ext cx="4329559" cy="738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4"/>
              </a:lnSpc>
            </a:pPr>
            <a:r>
              <a:rPr lang="en-US" sz="42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SEMINAR PAPER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235983" y="6199253"/>
            <a:ext cx="3255913" cy="465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7"/>
              </a:lnSpc>
            </a:pPr>
            <a:r>
              <a:rPr lang="en-US" sz="268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Kan we REFERENCE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6535"/>
            <a:ext cx="18288000" cy="1066520"/>
            <a:chOff x="0" y="0"/>
            <a:chExt cx="24384000" cy="14220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422028"/>
            </a:xfrm>
            <a:custGeom>
              <a:avLst/>
              <a:gdLst/>
              <a:ahLst/>
              <a:cxnLst/>
              <a:rect r="r" b="b" t="t" l="l"/>
              <a:pathLst>
                <a:path h="142202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22028"/>
                  </a:lnTo>
                  <a:lnTo>
                    <a:pt x="0" y="14220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1192" r="13750" b="-235158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24384000" cy="13744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508"/>
                </a:lnSpc>
              </a:pPr>
              <a:r>
                <a:rPr lang="en-US" b="true" sz="5100" spc="91">
                  <a:solidFill>
                    <a:srgbClr val="000000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NEXT WEEK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256798"/>
            <a:ext cx="14655526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Next</a:t>
            </a:r>
            <a:r>
              <a:rPr lang="en-US" sz="3399" b="true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Week plan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Training and testing model 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Research more on meaningful contribution.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DAHGd03FuxQ</dc:identifier>
  <dcterms:modified xsi:type="dcterms:W3CDTF">2011-08-01T06:04:30Z</dcterms:modified>
  <cp:revision>1</cp:revision>
  <dc:title>Weekly_Lalith sai_[2026-04-11]</dc:title>
</cp:coreProperties>
</file>